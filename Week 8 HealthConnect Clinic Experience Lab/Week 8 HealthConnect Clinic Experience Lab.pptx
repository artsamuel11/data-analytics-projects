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7" r:id="rId2"/>
    <p:sldId id="258" r:id="rId3"/>
    <p:sldId id="276" r:id="rId4"/>
    <p:sldId id="273" r:id="rId5"/>
    <p:sldId id="261" r:id="rId6"/>
    <p:sldId id="267" r:id="rId7"/>
    <p:sldId id="277" r:id="rId8"/>
    <p:sldId id="278" r:id="rId9"/>
    <p:sldId id="262" r:id="rId10"/>
    <p:sldId id="279" r:id="rId11"/>
    <p:sldId id="280" r:id="rId12"/>
    <p:sldId id="281" r:id="rId13"/>
    <p:sldId id="272" r:id="rId14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6B7C"/>
    <a:srgbClr val="14262A"/>
    <a:srgbClr val="26464E"/>
    <a:srgbClr val="5099AA"/>
    <a:srgbClr val="EDE8E0"/>
    <a:srgbClr val="6F8D91"/>
    <a:srgbClr val="F5F1EB"/>
    <a:srgbClr val="315258"/>
    <a:srgbClr val="4B6B70"/>
    <a:srgbClr val="D8EB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049" autoAdjust="0"/>
  </p:normalViewPr>
  <p:slideViewPr>
    <p:cSldViewPr snapToGrid="0">
      <p:cViewPr>
        <p:scale>
          <a:sx n="40" d="100"/>
          <a:sy n="40" d="100"/>
        </p:scale>
        <p:origin x="1308" y="4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2648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D3965-D187-49EF-ACF7-12E375274243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B478E-BF31-45CD-8340-46142CA22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89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FAB3-A335-4529-AFC3-B463D2B0651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43FC-ADAE-4B98-88EB-D9784D386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28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FAB3-A335-4529-AFC3-B463D2B0651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43FC-ADAE-4B98-88EB-D9784D386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6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FAB3-A335-4529-AFC3-B463D2B0651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43FC-ADAE-4B98-88EB-D9784D386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4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FAB3-A335-4529-AFC3-B463D2B0651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43FC-ADAE-4B98-88EB-D9784D386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40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FAB3-A335-4529-AFC3-B463D2B0651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43FC-ADAE-4B98-88EB-D9784D386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58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FAB3-A335-4529-AFC3-B463D2B0651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43FC-ADAE-4B98-88EB-D9784D386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9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FAB3-A335-4529-AFC3-B463D2B0651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43FC-ADAE-4B98-88EB-D9784D386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7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FAB3-A335-4529-AFC3-B463D2B0651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43FC-ADAE-4B98-88EB-D9784D386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43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FAB3-A335-4529-AFC3-B463D2B0651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43FC-ADAE-4B98-88EB-D9784D386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9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FAB3-A335-4529-AFC3-B463D2B0651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43FC-ADAE-4B98-88EB-D9784D386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978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FAB3-A335-4529-AFC3-B463D2B0651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43FC-ADAE-4B98-88EB-D9784D386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43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908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0FFAB3-A335-4529-AFC3-B463D2B0651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2243FC-ADAE-4B98-88EB-D9784D386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B25984-9AC4-8A99-7272-DCFB945BA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" y="0"/>
            <a:ext cx="16242888" cy="9144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6418C3-3E3D-F973-0F8E-BCF2BBB5AD8B}"/>
              </a:ext>
            </a:extLst>
          </p:cNvPr>
          <p:cNvSpPr/>
          <p:nvPr/>
        </p:nvSpPr>
        <p:spPr>
          <a:xfrm>
            <a:off x="0" y="0"/>
            <a:ext cx="16242888" cy="9144000"/>
          </a:xfrm>
          <a:prstGeom prst="rect">
            <a:avLst/>
          </a:prstGeom>
          <a:gradFill flip="none" rotWithShape="1">
            <a:gsLst>
              <a:gs pos="50000">
                <a:srgbClr val="14262A">
                  <a:alpha val="91000"/>
                </a:srgbClr>
              </a:gs>
              <a:gs pos="0">
                <a:srgbClr val="14262A">
                  <a:alpha val="90000"/>
                </a:srgbClr>
              </a:gs>
              <a:gs pos="100000">
                <a:srgbClr val="14262A">
                  <a:alpha val="94902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09BBD8-3BDC-4A36-C248-B7D83467B8FF}"/>
              </a:ext>
            </a:extLst>
          </p:cNvPr>
          <p:cNvSpPr/>
          <p:nvPr/>
        </p:nvSpPr>
        <p:spPr>
          <a:xfrm rot="5400000" flipV="1">
            <a:off x="354979" y="3209368"/>
            <a:ext cx="2580340" cy="135929"/>
          </a:xfrm>
          <a:prstGeom prst="rect">
            <a:avLst/>
          </a:prstGeom>
          <a:solidFill>
            <a:srgbClr val="5099AA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062269-4350-A6D6-241C-45D9BBB5B66D}"/>
              </a:ext>
            </a:extLst>
          </p:cNvPr>
          <p:cNvSpPr/>
          <p:nvPr/>
        </p:nvSpPr>
        <p:spPr>
          <a:xfrm>
            <a:off x="6990182" y="4875305"/>
            <a:ext cx="1901952" cy="9144"/>
          </a:xfrm>
          <a:prstGeom prst="rect">
            <a:avLst/>
          </a:prstGeom>
          <a:solidFill>
            <a:schemeClr val="bg1">
              <a:lumMod val="85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9BBD9423-A8CC-A0E7-94C9-EABE780BC85C}"/>
              </a:ext>
            </a:extLst>
          </p:cNvPr>
          <p:cNvSpPr/>
          <p:nvPr/>
        </p:nvSpPr>
        <p:spPr>
          <a:xfrm>
            <a:off x="2430378" y="1473231"/>
            <a:ext cx="12436381" cy="725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PROJECT OVERVIEW</a:t>
            </a:r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B5148CF1-19B2-2843-D58A-F902E5DFFF04}"/>
              </a:ext>
            </a:extLst>
          </p:cNvPr>
          <p:cNvSpPr/>
          <p:nvPr/>
        </p:nvSpPr>
        <p:spPr>
          <a:xfrm>
            <a:off x="2458530" y="2168578"/>
            <a:ext cx="13138572" cy="4490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Project Goal: 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Use data and AI-supported insights to understand missed appointments and improve patient support</a:t>
            </a:r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1BA2ACB0-7C96-AC08-CE5C-7CC3B5FDB42F}"/>
              </a:ext>
            </a:extLst>
          </p:cNvPr>
          <p:cNvSpPr/>
          <p:nvPr/>
        </p:nvSpPr>
        <p:spPr>
          <a:xfrm>
            <a:off x="2430378" y="2525096"/>
            <a:ext cx="11895557" cy="997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HealthConnect Clinic Experience Lab</a:t>
            </a:r>
          </a:p>
          <a:p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Improving Patient Appointment Attendance and Healthcare Support Using Data and AI </a:t>
            </a:r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FB305D76-F6D8-5C8D-2794-A92C6A84B2A1}"/>
              </a:ext>
            </a:extLst>
          </p:cNvPr>
          <p:cNvSpPr/>
          <p:nvPr/>
        </p:nvSpPr>
        <p:spPr>
          <a:xfrm>
            <a:off x="2430378" y="5216728"/>
            <a:ext cx="13002661" cy="618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Arthur</a:t>
            </a:r>
            <a:endParaRPr lang="en-US" sz="20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8B71975F-7C54-398C-F224-4873F594E1C4}"/>
              </a:ext>
            </a:extLst>
          </p:cNvPr>
          <p:cNvSpPr/>
          <p:nvPr/>
        </p:nvSpPr>
        <p:spPr>
          <a:xfrm>
            <a:off x="2458530" y="5524529"/>
            <a:ext cx="11003850" cy="2229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Data Analyst, AnalystLab Africa </a:t>
            </a:r>
            <a:endParaRPr lang="en-US" sz="2000" dirty="0"/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F91092E4-F3FD-0233-234C-D66FA60D814C}"/>
              </a:ext>
            </a:extLst>
          </p:cNvPr>
          <p:cNvSpPr/>
          <p:nvPr/>
        </p:nvSpPr>
        <p:spPr>
          <a:xfrm>
            <a:off x="2458530" y="5746584"/>
            <a:ext cx="11003850" cy="755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— Data Analytics Internship, Week 8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13590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138FB7-9F29-B65E-2E10-1F58AB0A0DBE}"/>
              </a:ext>
            </a:extLst>
          </p:cNvPr>
          <p:cNvSpPr txBox="1"/>
          <p:nvPr/>
        </p:nvSpPr>
        <p:spPr>
          <a:xfrm>
            <a:off x="1547587" y="488549"/>
            <a:ext cx="10387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PROJECT PROBLEM &amp; OBJECTIVE</a:t>
            </a:r>
            <a:endParaRPr lang="en-US" sz="3600" b="1" dirty="0">
              <a:solidFill>
                <a:srgbClr val="14262A"/>
              </a:solidFill>
              <a:latin typeface="Amasis MT Pro Light" panose="020403040500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092EF7-4697-3B8A-85FC-1DF51257E280}"/>
              </a:ext>
            </a:extLst>
          </p:cNvPr>
          <p:cNvSpPr/>
          <p:nvPr/>
        </p:nvSpPr>
        <p:spPr>
          <a:xfrm rot="5400000" flipV="1">
            <a:off x="1128290" y="796772"/>
            <a:ext cx="574161" cy="91440"/>
          </a:xfrm>
          <a:prstGeom prst="rect">
            <a:avLst/>
          </a:prstGeom>
          <a:solidFill>
            <a:srgbClr val="5099AA"/>
          </a:solidFill>
          <a:ln>
            <a:noFill/>
          </a:ln>
          <a:effectLst>
            <a:outerShdw blurRad="50800" dist="38100" dir="2700000" algn="tl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FFF210-731C-70B4-A0F3-2603E13BEE77}"/>
              </a:ext>
            </a:extLst>
          </p:cNvPr>
          <p:cNvSpPr/>
          <p:nvPr/>
        </p:nvSpPr>
        <p:spPr>
          <a:xfrm rot="5400000" flipV="1">
            <a:off x="4594636" y="-2385637"/>
            <a:ext cx="6928231" cy="15020222"/>
          </a:xfrm>
          <a:prstGeom prst="rect">
            <a:avLst/>
          </a:prstGeom>
          <a:solidFill>
            <a:srgbClr val="EDE8E0"/>
          </a:solidFill>
          <a:ln>
            <a:noFill/>
          </a:ln>
          <a:effectLst>
            <a:outerShdw blurRad="50800" dist="38100" dir="2700000" algn="tl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F97408-D2C5-029B-0976-69D947C2C0CC}"/>
              </a:ext>
            </a:extLst>
          </p:cNvPr>
          <p:cNvSpPr txBox="1"/>
          <p:nvPr/>
        </p:nvSpPr>
        <p:spPr>
          <a:xfrm>
            <a:off x="1865780" y="2327835"/>
            <a:ext cx="117218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/>
              <a:t>PROBLEM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HealthConnect has a high level of missed appointments, which can affect patient support and clinic operations.</a:t>
            </a:r>
            <a:endParaRPr lang="en-US" sz="2800" dirty="0">
              <a:solidFill>
                <a:srgbClr val="5A6B7C"/>
              </a:solidFill>
              <a:latin typeface="Amasis MT Pro Light" panose="02040304050005020304" pitchFamily="18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679CC2-151D-48CE-0428-10234A80C09D}"/>
              </a:ext>
            </a:extLst>
          </p:cNvPr>
          <p:cNvSpPr txBox="1"/>
          <p:nvPr/>
        </p:nvSpPr>
        <p:spPr>
          <a:xfrm>
            <a:off x="1865780" y="4380306"/>
            <a:ext cx="11721884" cy="3248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Objective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Use data analytics and AI-supported decision-making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Understand appointment no-show patterns.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Identify higher-risk appointment groups.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Improve appointment monitoring and support.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Provide evidence for future predictive solutions.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5A6B7C"/>
              </a:solidFill>
              <a:latin typeface="Amasis MT Pro Light" panose="02040304050005020304" pitchFamily="18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254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0B9974-2237-4BEC-628C-C639C72F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789858-7264-68DE-4F4E-395273930977}"/>
              </a:ext>
            </a:extLst>
          </p:cNvPr>
          <p:cNvSpPr txBox="1"/>
          <p:nvPr/>
        </p:nvSpPr>
        <p:spPr>
          <a:xfrm>
            <a:off x="1547587" y="488549"/>
            <a:ext cx="10387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PROJECT JOURNEY AND WEEK 8 READINESS</a:t>
            </a:r>
            <a:endParaRPr lang="en-US" sz="3600" b="1" dirty="0">
              <a:solidFill>
                <a:srgbClr val="14262A"/>
              </a:solidFill>
              <a:latin typeface="Amasis MT Pro Light" panose="020403040500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B056E0-0F66-0A9F-33DE-1A9F1758C9B6}"/>
              </a:ext>
            </a:extLst>
          </p:cNvPr>
          <p:cNvSpPr/>
          <p:nvPr/>
        </p:nvSpPr>
        <p:spPr>
          <a:xfrm rot="5400000" flipV="1">
            <a:off x="1128290" y="796772"/>
            <a:ext cx="574161" cy="91440"/>
          </a:xfrm>
          <a:prstGeom prst="rect">
            <a:avLst/>
          </a:prstGeom>
          <a:solidFill>
            <a:srgbClr val="5099AA"/>
          </a:solidFill>
          <a:ln>
            <a:noFill/>
          </a:ln>
          <a:effectLst>
            <a:outerShdw blurRad="50800" dist="38100" dir="2700000" algn="tl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BF30A4-0259-18B9-9543-D651C3BA9210}"/>
              </a:ext>
            </a:extLst>
          </p:cNvPr>
          <p:cNvSpPr/>
          <p:nvPr/>
        </p:nvSpPr>
        <p:spPr>
          <a:xfrm rot="5400000" flipV="1">
            <a:off x="4594636" y="-2385637"/>
            <a:ext cx="6928231" cy="15020222"/>
          </a:xfrm>
          <a:prstGeom prst="rect">
            <a:avLst/>
          </a:prstGeom>
          <a:solidFill>
            <a:srgbClr val="EDE8E0"/>
          </a:solidFill>
          <a:ln>
            <a:noFill/>
          </a:ln>
          <a:effectLst>
            <a:outerShdw blurRad="50800" dist="38100" dir="2700000" algn="tl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C7431F-7BEC-CD69-A2A1-A16A69688206}"/>
              </a:ext>
            </a:extLst>
          </p:cNvPr>
          <p:cNvSpPr txBox="1"/>
          <p:nvPr/>
        </p:nvSpPr>
        <p:spPr>
          <a:xfrm>
            <a:off x="1865780" y="2247560"/>
            <a:ext cx="2872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Progress</a:t>
            </a:r>
            <a:endParaRPr lang="en-US" sz="2800" b="1" dirty="0">
              <a:latin typeface="Amasis MT Pro Light" panose="020403040500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604F43-E62D-0E9A-84F8-A96B6CD4DE8E}"/>
              </a:ext>
            </a:extLst>
          </p:cNvPr>
          <p:cNvSpPr txBox="1"/>
          <p:nvPr/>
        </p:nvSpPr>
        <p:spPr>
          <a:xfrm>
            <a:off x="1865780" y="3002370"/>
            <a:ext cx="10863631" cy="2817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b="1" dirty="0"/>
              <a:t>Week 4:</a:t>
            </a:r>
            <a:r>
              <a:rPr lang="en-US" sz="2800" dirty="0"/>
              <a:t> Problem Understanding &amp; Planning</a:t>
            </a:r>
          </a:p>
          <a:p>
            <a:pPr lvl="0"/>
            <a:r>
              <a:rPr lang="en-US" sz="2800" b="1" dirty="0"/>
              <a:t>Week 5:</a:t>
            </a:r>
            <a:r>
              <a:rPr lang="en-US" sz="2800" dirty="0"/>
              <a:t> Data Analysis &amp; Dashboard Development</a:t>
            </a:r>
          </a:p>
          <a:p>
            <a:pPr lvl="0"/>
            <a:r>
              <a:rPr lang="en-US" sz="2800" b="1" dirty="0"/>
              <a:t>Week 6:</a:t>
            </a:r>
            <a:r>
              <a:rPr lang="en-US" sz="2800" dirty="0"/>
              <a:t> Advanced Analysis &amp; Validation</a:t>
            </a:r>
          </a:p>
          <a:p>
            <a:pPr lvl="0"/>
            <a:r>
              <a:rPr lang="en-US" sz="2800" b="1" dirty="0"/>
              <a:t>Week 7:</a:t>
            </a:r>
            <a:r>
              <a:rPr lang="en-US" sz="2800" dirty="0"/>
              <a:t> Testing &amp; Refinement</a:t>
            </a:r>
          </a:p>
          <a:p>
            <a:pPr lvl="0"/>
            <a:r>
              <a:rPr lang="en-US" sz="2800" b="1" dirty="0"/>
              <a:t>Week 8:</a:t>
            </a:r>
            <a:r>
              <a:rPr lang="en-US" sz="2800" dirty="0"/>
              <a:t> Final Integration &amp; Presentation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5A6B7C"/>
              </a:solidFill>
              <a:latin typeface="Amasis MT Pro Light" panose="02040304050005020304" pitchFamily="18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30289-9202-4F90-24D3-D7610A9328D4}"/>
              </a:ext>
            </a:extLst>
          </p:cNvPr>
          <p:cNvSpPr txBox="1"/>
          <p:nvPr/>
        </p:nvSpPr>
        <p:spPr>
          <a:xfrm>
            <a:off x="1865780" y="5528107"/>
            <a:ext cx="12524440" cy="1955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8 Status</a:t>
            </a:r>
          </a:p>
          <a:p>
            <a:r>
              <a:rPr lang="en-US" sz="2800" dirty="0"/>
              <a:t>The Power BI dashboard and final analytics package are validated and ready for presentation.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5A6B7C"/>
              </a:solidFill>
              <a:latin typeface="Amasis MT Pro Light" panose="02040304050005020304" pitchFamily="18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6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7680"/>
            <a:ext cx="1475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/>
              <a:t>DATASET &amp; FINAL KPIs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2255520"/>
            <a:ext cx="35966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333" dirty="0"/>
          </a:p>
        </p:txBody>
      </p:sp>
      <p:sp>
        <p:nvSpPr>
          <p:cNvPr id="5" name="Text 3"/>
          <p:cNvSpPr/>
          <p:nvPr/>
        </p:nvSpPr>
        <p:spPr>
          <a:xfrm>
            <a:off x="731520" y="3413760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4632960" y="2255520"/>
            <a:ext cx="35966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333" dirty="0"/>
          </a:p>
        </p:txBody>
      </p:sp>
      <p:sp>
        <p:nvSpPr>
          <p:cNvPr id="8" name="Text 6"/>
          <p:cNvSpPr/>
          <p:nvPr/>
        </p:nvSpPr>
        <p:spPr>
          <a:xfrm>
            <a:off x="4632960" y="3413760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8534400" y="2255520"/>
            <a:ext cx="35966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333" dirty="0"/>
          </a:p>
        </p:txBody>
      </p:sp>
      <p:sp>
        <p:nvSpPr>
          <p:cNvPr id="11" name="Text 9"/>
          <p:cNvSpPr/>
          <p:nvPr/>
        </p:nvSpPr>
        <p:spPr>
          <a:xfrm>
            <a:off x="8534400" y="3413760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12435840" y="2255520"/>
            <a:ext cx="35966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333" dirty="0"/>
          </a:p>
        </p:txBody>
      </p:sp>
      <p:sp>
        <p:nvSpPr>
          <p:cNvPr id="14" name="Text 12"/>
          <p:cNvSpPr/>
          <p:nvPr/>
        </p:nvSpPr>
        <p:spPr>
          <a:xfrm>
            <a:off x="12435840" y="3413760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731520" y="5307262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/>
              <a:t>Final KPIs</a:t>
            </a:r>
          </a:p>
        </p:txBody>
      </p:sp>
      <p:sp>
        <p:nvSpPr>
          <p:cNvPr id="16" name="Text 14"/>
          <p:cNvSpPr/>
          <p:nvPr/>
        </p:nvSpPr>
        <p:spPr>
          <a:xfrm>
            <a:off x="731520" y="2255520"/>
            <a:ext cx="14386560" cy="217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/>
              <a:t>Dataset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5,000 appointments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18 variables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5,000 unique appointment IDs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0 duplicate IDs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January 2025 – June 2026</a:t>
            </a:r>
          </a:p>
          <a:p>
            <a:pPr>
              <a:lnSpc>
                <a:spcPct val="120000"/>
              </a:lnSpc>
              <a:spcAft>
                <a:spcPts val="1333"/>
              </a:spcAft>
              <a:buSzPct val="100000"/>
            </a:pP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483840" y="8595360"/>
            <a:ext cx="60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33" dirty="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F4168E57-7CC4-9588-6329-67E49205A204}"/>
              </a:ext>
            </a:extLst>
          </p:cNvPr>
          <p:cNvSpPr/>
          <p:nvPr/>
        </p:nvSpPr>
        <p:spPr>
          <a:xfrm>
            <a:off x="731520" y="6119142"/>
            <a:ext cx="14386560" cy="217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No-Show:</a:t>
            </a:r>
            <a:r>
              <a:rPr lang="en-US" sz="2800" dirty="0"/>
              <a:t> 48.46%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Attendance:</a:t>
            </a:r>
            <a:r>
              <a:rPr lang="en-US" sz="2800" dirty="0"/>
              <a:t> 46.28%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Cancellation:</a:t>
            </a:r>
            <a:r>
              <a:rPr lang="en-US" sz="2800" dirty="0"/>
              <a:t> 5.26%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Reminder Coverage:</a:t>
            </a:r>
            <a:r>
              <a:rPr lang="en-US" sz="2800" dirty="0"/>
              <a:t> 72.68%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High Risk No Show Rate:</a:t>
            </a:r>
            <a:r>
              <a:rPr lang="en-US" sz="2800" dirty="0"/>
              <a:t> 60.02%</a:t>
            </a:r>
          </a:p>
          <a:p>
            <a:pPr>
              <a:lnSpc>
                <a:spcPct val="120000"/>
              </a:lnSpc>
              <a:spcAft>
                <a:spcPts val="1333"/>
              </a:spcAft>
              <a:buSzPct val="100000"/>
            </a:pP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B25984-9AC4-8A99-7272-DCFB945BA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" y="0"/>
            <a:ext cx="16242888" cy="9144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6418C3-3E3D-F973-0F8E-BCF2BBB5AD8B}"/>
              </a:ext>
            </a:extLst>
          </p:cNvPr>
          <p:cNvSpPr/>
          <p:nvPr/>
        </p:nvSpPr>
        <p:spPr>
          <a:xfrm>
            <a:off x="0" y="0"/>
            <a:ext cx="16285464" cy="9144000"/>
          </a:xfrm>
          <a:prstGeom prst="rect">
            <a:avLst/>
          </a:prstGeom>
          <a:gradFill flip="none" rotWithShape="1">
            <a:gsLst>
              <a:gs pos="50000">
                <a:srgbClr val="14262A">
                  <a:alpha val="91000"/>
                </a:srgbClr>
              </a:gs>
              <a:gs pos="0">
                <a:srgbClr val="14262A">
                  <a:alpha val="90000"/>
                </a:srgbClr>
              </a:gs>
              <a:gs pos="100000">
                <a:srgbClr val="14262A">
                  <a:alpha val="94902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09BBD8-3BDC-4A36-C248-B7D83467B8FF}"/>
              </a:ext>
            </a:extLst>
          </p:cNvPr>
          <p:cNvSpPr/>
          <p:nvPr/>
        </p:nvSpPr>
        <p:spPr>
          <a:xfrm flipV="1">
            <a:off x="3679158" y="4124370"/>
            <a:ext cx="719848" cy="118872"/>
          </a:xfrm>
          <a:prstGeom prst="rect">
            <a:avLst/>
          </a:prstGeom>
          <a:solidFill>
            <a:srgbClr val="5099AA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0BF5B6-C788-121F-49FF-3EC510C9719E}"/>
              </a:ext>
            </a:extLst>
          </p:cNvPr>
          <p:cNvSpPr txBox="1"/>
          <p:nvPr/>
        </p:nvSpPr>
        <p:spPr>
          <a:xfrm>
            <a:off x="3801319" y="4345528"/>
            <a:ext cx="116472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KEY ANALYTICAL FINDINGS, HIGH-RISK SEGMENT AND FINAL POWER BI DASHBOARD</a:t>
            </a:r>
          </a:p>
          <a:p>
            <a:pPr algn="ctr"/>
            <a:endParaRPr lang="en-US" sz="4000" b="1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  <a:latin typeface="Amasis MT Pro Light" panose="020403040500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F7F4C1-BC91-0623-E5D5-F1560E10DA07}"/>
              </a:ext>
            </a:extLst>
          </p:cNvPr>
          <p:cNvSpPr/>
          <p:nvPr/>
        </p:nvSpPr>
        <p:spPr>
          <a:xfrm rot="5400000" flipV="1">
            <a:off x="3444099" y="4591887"/>
            <a:ext cx="592277" cy="122167"/>
          </a:xfrm>
          <a:prstGeom prst="rect">
            <a:avLst/>
          </a:prstGeom>
          <a:solidFill>
            <a:srgbClr val="5099AA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9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3B5AEE8-1635-3698-3ECD-7794187A980D}"/>
              </a:ext>
            </a:extLst>
          </p:cNvPr>
          <p:cNvSpPr/>
          <p:nvPr/>
        </p:nvSpPr>
        <p:spPr>
          <a:xfrm rot="5400000" flipV="1">
            <a:off x="3927379" y="-2305778"/>
            <a:ext cx="8662735" cy="14236826"/>
          </a:xfrm>
          <a:prstGeom prst="rect">
            <a:avLst/>
          </a:prstGeom>
          <a:solidFill>
            <a:srgbClr val="EDE8E0"/>
          </a:solidFill>
          <a:ln>
            <a:noFill/>
          </a:ln>
          <a:effectLst>
            <a:outerShdw blurRad="508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8B9CA0-8983-FC05-CDB7-B8EE822542E8}"/>
              </a:ext>
            </a:extLst>
          </p:cNvPr>
          <p:cNvSpPr txBox="1"/>
          <p:nvPr/>
        </p:nvSpPr>
        <p:spPr>
          <a:xfrm>
            <a:off x="878840" y="481267"/>
            <a:ext cx="13701010" cy="8430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Previous No-Shows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No-show rate increased from: </a:t>
            </a:r>
            <a:r>
              <a:rPr lang="en-US" sz="2800" b="1" dirty="0"/>
              <a:t>43.51% → 53.49% → 59.36% → 68.82%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for </a:t>
            </a:r>
            <a:r>
              <a:rPr lang="en-US" sz="2800" b="1" dirty="0"/>
              <a:t>0, 1, 2 and 3+ previous no-shows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b="1" dirty="0"/>
              <a:t>Booking Lead Time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No-show rate increased from: </a:t>
            </a:r>
            <a:r>
              <a:rPr lang="en-US" sz="2800" b="1" dirty="0"/>
              <a:t>26.51% for 0–1 days → 60.49% for 31+ days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b="1" dirty="0"/>
              <a:t>Other Findings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&gt;20 km distance:</a:t>
            </a:r>
            <a:r>
              <a:rPr lang="en-US" sz="2800" dirty="0"/>
              <a:t> 57.76%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Follow-up appointments:</a:t>
            </a:r>
            <a:r>
              <a:rPr lang="en-US" sz="2800" dirty="0"/>
              <a:t> 51.23%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No reminder:</a:t>
            </a:r>
            <a:r>
              <a:rPr lang="en-US" sz="2800" dirty="0"/>
              <a:t> 51.39%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Reminder:</a:t>
            </a:r>
            <a:r>
              <a:rPr lang="en-US" sz="2800" dirty="0"/>
              <a:t> 47.36%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5099AA"/>
              </a:solidFill>
              <a:latin typeface="Oranienbaum" panose="02000506080000020003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19BB09-5048-5A6C-18FC-B1B4FDB8B8C9}"/>
              </a:ext>
            </a:extLst>
          </p:cNvPr>
          <p:cNvSpPr txBox="1"/>
          <p:nvPr/>
        </p:nvSpPr>
        <p:spPr>
          <a:xfrm>
            <a:off x="5742731" y="3582884"/>
            <a:ext cx="12214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>
              <a:solidFill>
                <a:srgbClr val="5A6B7C"/>
              </a:solidFill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11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5DFBF-FE4C-A403-2938-929277406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D1E9945-008D-A171-DCF0-9F048F52DAC7}"/>
              </a:ext>
            </a:extLst>
          </p:cNvPr>
          <p:cNvSpPr/>
          <p:nvPr/>
        </p:nvSpPr>
        <p:spPr>
          <a:xfrm rot="5400000" flipV="1">
            <a:off x="3927379" y="-2305778"/>
            <a:ext cx="8662735" cy="14236826"/>
          </a:xfrm>
          <a:prstGeom prst="rect">
            <a:avLst/>
          </a:prstGeom>
          <a:solidFill>
            <a:srgbClr val="EDE8E0"/>
          </a:solidFill>
          <a:ln>
            <a:noFill/>
          </a:ln>
          <a:effectLst>
            <a:outerShdw blurRad="508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329392-1BBA-54FD-5482-0D0600A367B7}"/>
              </a:ext>
            </a:extLst>
          </p:cNvPr>
          <p:cNvSpPr txBox="1"/>
          <p:nvPr/>
        </p:nvSpPr>
        <p:spPr>
          <a:xfrm>
            <a:off x="878840" y="481267"/>
            <a:ext cx="13701010" cy="7691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HIGH-RISK SEGMENT</a:t>
            </a:r>
          </a:p>
          <a:p>
            <a:endParaRPr lang="en-US" sz="2800" b="1" dirty="0"/>
          </a:p>
          <a:p>
            <a:r>
              <a:rPr lang="en-US" sz="2800" b="1" dirty="0"/>
              <a:t>High-Risk Definition</a:t>
            </a:r>
          </a:p>
          <a:p>
            <a:endParaRPr lang="en-US" sz="2800" b="1" dirty="0"/>
          </a:p>
          <a:p>
            <a:r>
              <a:rPr lang="en-US" sz="2800" b="1" dirty="0"/>
              <a:t>Previous No-Shows ≥ 2 </a:t>
            </a:r>
          </a:p>
          <a:p>
            <a:r>
              <a:rPr lang="en-US" sz="2800" b="1" dirty="0"/>
              <a:t>AND </a:t>
            </a:r>
          </a:p>
          <a:p>
            <a:r>
              <a:rPr lang="en-US" sz="2800" b="1" dirty="0"/>
              <a:t>Booking Lead Days ≥ 31</a:t>
            </a:r>
          </a:p>
          <a:p>
            <a:endParaRPr lang="en-US" sz="2800" dirty="0"/>
          </a:p>
          <a:p>
            <a:r>
              <a:rPr lang="en-US" sz="2800" b="1" dirty="0"/>
              <a:t>Result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233 appointments</a:t>
            </a: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170 no-shows</a:t>
            </a: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72.96% observed no-show rate</a:t>
            </a:r>
            <a:endParaRPr lang="en-US" sz="2800" dirty="0"/>
          </a:p>
          <a:p>
            <a:endParaRPr lang="en-US" sz="2800" b="1" dirty="0"/>
          </a:p>
          <a:p>
            <a:r>
              <a:rPr lang="en-US" sz="2800" b="1" dirty="0"/>
              <a:t>Important Refinement</a:t>
            </a:r>
          </a:p>
          <a:p>
            <a:r>
              <a:rPr lang="en-US" sz="2800" dirty="0"/>
              <a:t>The </a:t>
            </a:r>
            <a:r>
              <a:rPr lang="en-US" sz="2800" b="1" dirty="0"/>
              <a:t>61.02%</a:t>
            </a:r>
            <a:r>
              <a:rPr lang="en-US" sz="2800" dirty="0"/>
              <a:t> rate refers to the broader </a:t>
            </a:r>
            <a:r>
              <a:rPr lang="en-US" sz="2800" b="1" dirty="0"/>
              <a:t>2+ previous no-show group</a:t>
            </a:r>
            <a:r>
              <a:rPr lang="en-US" sz="2800" dirty="0"/>
              <a:t>.</a:t>
            </a:r>
          </a:p>
          <a:p>
            <a:r>
              <a:rPr lang="en-US" sz="2800" dirty="0"/>
              <a:t>The corrected </a:t>
            </a:r>
            <a:r>
              <a:rPr lang="en-US" sz="2800" b="1" dirty="0"/>
              <a:t>combined high-risk rate is 72.96%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5099AA"/>
              </a:solidFill>
              <a:latin typeface="Oranienbaum" panose="02000506080000020003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E19E1A-947C-6829-D824-6DBA97B6D8EA}"/>
              </a:ext>
            </a:extLst>
          </p:cNvPr>
          <p:cNvSpPr txBox="1"/>
          <p:nvPr/>
        </p:nvSpPr>
        <p:spPr>
          <a:xfrm>
            <a:off x="5742731" y="3582884"/>
            <a:ext cx="12214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>
              <a:solidFill>
                <a:srgbClr val="5A6B7C"/>
              </a:solidFill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753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6451D-3DAE-69AD-FC1F-B804DD27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6CA4512-DDC8-20C9-15BA-537D9A2AE6BC}"/>
              </a:ext>
            </a:extLst>
          </p:cNvPr>
          <p:cNvSpPr/>
          <p:nvPr/>
        </p:nvSpPr>
        <p:spPr>
          <a:xfrm rot="5400000" flipV="1">
            <a:off x="3927379" y="-2305778"/>
            <a:ext cx="8662735" cy="14236826"/>
          </a:xfrm>
          <a:prstGeom prst="rect">
            <a:avLst/>
          </a:prstGeom>
          <a:solidFill>
            <a:srgbClr val="EDE8E0"/>
          </a:solidFill>
          <a:ln>
            <a:noFill/>
          </a:ln>
          <a:effectLst>
            <a:outerShdw blurRad="508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8CFC13-0AFB-F7E3-976B-587299B9C103}"/>
              </a:ext>
            </a:extLst>
          </p:cNvPr>
          <p:cNvSpPr txBox="1"/>
          <p:nvPr/>
        </p:nvSpPr>
        <p:spPr>
          <a:xfrm>
            <a:off x="878840" y="481267"/>
            <a:ext cx="13701010" cy="9445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FINAL POWER BI DASHBOARD</a:t>
            </a:r>
          </a:p>
          <a:p>
            <a:pPr>
              <a:lnSpc>
                <a:spcPct val="150000"/>
              </a:lnSpc>
            </a:pPr>
            <a:r>
              <a:rPr lang="en-US" sz="3200" b="1" dirty="0"/>
              <a:t>Dashboard Components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KPI cards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Appointment outcomes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Previous no-show analysis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Booking lead-time analysis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Reminder analysis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Appointment-type analysis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Distance analysis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Risk-factor analysis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Previous No-Show × Lead-Time heatmap</a:t>
            </a:r>
          </a:p>
          <a:p>
            <a:pPr>
              <a:lnSpc>
                <a:spcPct val="150000"/>
              </a:lnSpc>
            </a:pPr>
            <a:r>
              <a:rPr lang="en-US" sz="3200" b="1" dirty="0"/>
              <a:t>Filters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Appointment Type | Appointment Day | Reminder Status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5099AA"/>
              </a:solidFill>
              <a:latin typeface="Oranienbaum" panose="02000506080000020003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96D7EF-99F6-A0F7-E849-B15F5922CDC5}"/>
              </a:ext>
            </a:extLst>
          </p:cNvPr>
          <p:cNvSpPr txBox="1"/>
          <p:nvPr/>
        </p:nvSpPr>
        <p:spPr>
          <a:xfrm>
            <a:off x="5742731" y="3582884"/>
            <a:ext cx="12214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>
              <a:solidFill>
                <a:srgbClr val="5A6B7C"/>
              </a:solidFill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988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B25984-9AC4-8A99-7272-DCFB945BA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" y="0"/>
            <a:ext cx="16242888" cy="9144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6418C3-3E3D-F973-0F8E-BCF2BBB5AD8B}"/>
              </a:ext>
            </a:extLst>
          </p:cNvPr>
          <p:cNvSpPr/>
          <p:nvPr/>
        </p:nvSpPr>
        <p:spPr>
          <a:xfrm>
            <a:off x="-14732" y="0"/>
            <a:ext cx="16285464" cy="9144000"/>
          </a:xfrm>
          <a:prstGeom prst="rect">
            <a:avLst/>
          </a:prstGeom>
          <a:gradFill flip="none" rotWithShape="1">
            <a:gsLst>
              <a:gs pos="50000">
                <a:srgbClr val="14262A">
                  <a:alpha val="91000"/>
                </a:srgbClr>
              </a:gs>
              <a:gs pos="0">
                <a:srgbClr val="14262A">
                  <a:alpha val="90000"/>
                </a:srgbClr>
              </a:gs>
              <a:gs pos="100000">
                <a:srgbClr val="14262A">
                  <a:alpha val="94902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09BBD8-3BDC-4A36-C248-B7D83467B8FF}"/>
              </a:ext>
            </a:extLst>
          </p:cNvPr>
          <p:cNvSpPr/>
          <p:nvPr/>
        </p:nvSpPr>
        <p:spPr>
          <a:xfrm flipV="1">
            <a:off x="3649198" y="2767116"/>
            <a:ext cx="719848" cy="118872"/>
          </a:xfrm>
          <a:prstGeom prst="rect">
            <a:avLst/>
          </a:prstGeom>
          <a:solidFill>
            <a:srgbClr val="5099AA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0BF5B6-C788-121F-49FF-3EC510C9719E}"/>
              </a:ext>
            </a:extLst>
          </p:cNvPr>
          <p:cNvSpPr txBox="1"/>
          <p:nvPr/>
        </p:nvSpPr>
        <p:spPr>
          <a:xfrm>
            <a:off x="3771362" y="2930135"/>
            <a:ext cx="126220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BUSINESS INSIGHTS, RECOMMENDATIONS, FINAL SOLUTION, LESSONS AND CONCLUSION</a:t>
            </a:r>
            <a:endParaRPr lang="en-US" sz="4000" dirty="0">
              <a:solidFill>
                <a:schemeClr val="bg1"/>
              </a:solidFill>
              <a:latin typeface="Amasis MT Pro Light" panose="020403040500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F7F4C1-BC91-0623-E5D5-F1560E10DA07}"/>
              </a:ext>
            </a:extLst>
          </p:cNvPr>
          <p:cNvSpPr/>
          <p:nvPr/>
        </p:nvSpPr>
        <p:spPr>
          <a:xfrm rot="5400000" flipV="1">
            <a:off x="3414139" y="3234633"/>
            <a:ext cx="592277" cy="122167"/>
          </a:xfrm>
          <a:prstGeom prst="rect">
            <a:avLst/>
          </a:prstGeom>
          <a:solidFill>
            <a:srgbClr val="5099AA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53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1AD8C8-3C7F-5615-12FD-73C86AA62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4CE6EA9-7924-608B-CC90-F62F347A32EE}"/>
              </a:ext>
            </a:extLst>
          </p:cNvPr>
          <p:cNvSpPr/>
          <p:nvPr/>
        </p:nvSpPr>
        <p:spPr>
          <a:xfrm rot="5400000" flipV="1">
            <a:off x="3471781" y="-3471773"/>
            <a:ext cx="9312439" cy="16256002"/>
          </a:xfrm>
          <a:prstGeom prst="rect">
            <a:avLst/>
          </a:prstGeom>
          <a:solidFill>
            <a:srgbClr val="EDE8E0"/>
          </a:solidFill>
          <a:ln>
            <a:noFill/>
          </a:ln>
          <a:effectLst>
            <a:outerShdw blurRad="508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27E9E5-900F-B9D3-3B58-985C35A1513D}"/>
              </a:ext>
            </a:extLst>
          </p:cNvPr>
          <p:cNvSpPr txBox="1"/>
          <p:nvPr/>
        </p:nvSpPr>
        <p:spPr>
          <a:xfrm>
            <a:off x="878840" y="288762"/>
            <a:ext cx="13701010" cy="10738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Key Insights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Missed appointments are a major issue.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Previous no-show history is associated with higher no-show rates.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Longer booking lead times show higher observed no-show rates.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The combined high-risk group recorded </a:t>
            </a:r>
            <a:r>
              <a:rPr lang="en-US" sz="2800" b="1" dirty="0"/>
              <a:t>72.96%</a:t>
            </a:r>
            <a:r>
              <a:rPr lang="en-US" sz="2800" dirty="0"/>
              <a:t>.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Distance may be relevant to attendance patterns.</a:t>
            </a:r>
          </a:p>
          <a:p>
            <a:pPr>
              <a:lnSpc>
                <a:spcPct val="150000"/>
              </a:lnSpc>
            </a:pPr>
            <a:r>
              <a:rPr lang="en-US" sz="3600" b="1" dirty="0"/>
              <a:t>Recommendations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Monitor previous no-show patterns.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Monitor appointments booked 31+ days ahead.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Investigate the high-risk segment for appropriate support.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Continue monitoring reminder coverage and channels.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Investigate distance/accessibility barriers.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Resolve the Sunday operating-day inconsistency.</a:t>
            </a:r>
          </a:p>
          <a:p>
            <a:pPr>
              <a:lnSpc>
                <a:spcPct val="150000"/>
              </a:lnSpc>
            </a:pPr>
            <a:br>
              <a:rPr lang="en-US" sz="2800" dirty="0"/>
            </a:br>
            <a:endParaRPr lang="en-US" sz="2800" dirty="0"/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5099AA"/>
              </a:solidFill>
              <a:latin typeface="Oranienbaum" panose="02000506080000020003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024F0F-EE06-7E8F-5500-96000E481F5E}"/>
              </a:ext>
            </a:extLst>
          </p:cNvPr>
          <p:cNvSpPr txBox="1"/>
          <p:nvPr/>
        </p:nvSpPr>
        <p:spPr>
          <a:xfrm>
            <a:off x="5742731" y="3582884"/>
            <a:ext cx="12214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>
              <a:solidFill>
                <a:srgbClr val="5A6B7C"/>
              </a:solidFill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307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9BEC85-3045-14C6-F86C-EFD01E7B3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C51B995-1B60-96CD-D83C-3965A11622B9}"/>
              </a:ext>
            </a:extLst>
          </p:cNvPr>
          <p:cNvSpPr/>
          <p:nvPr/>
        </p:nvSpPr>
        <p:spPr>
          <a:xfrm rot="5400000" flipV="1">
            <a:off x="3471781" y="-3471773"/>
            <a:ext cx="9312439" cy="16256002"/>
          </a:xfrm>
          <a:prstGeom prst="rect">
            <a:avLst/>
          </a:prstGeom>
          <a:solidFill>
            <a:srgbClr val="EDE8E0"/>
          </a:solidFill>
          <a:ln>
            <a:noFill/>
          </a:ln>
          <a:effectLst>
            <a:outerShdw blurRad="508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24D69E-390D-D48D-BD3D-1CF4E2A46723}"/>
              </a:ext>
            </a:extLst>
          </p:cNvPr>
          <p:cNvSpPr txBox="1"/>
          <p:nvPr/>
        </p:nvSpPr>
        <p:spPr>
          <a:xfrm>
            <a:off x="878840" y="691290"/>
            <a:ext cx="13701010" cy="6029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Final Solution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Analytics component provides: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Validated KPIs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Power BI dashboard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High-risk segmentation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Business insights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Recommendations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Limitations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5099AA"/>
              </a:solidFill>
              <a:latin typeface="Oranienbaum" panose="02000506080000020003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BF233F-FFF9-96CE-0876-016D79A6B3CA}"/>
              </a:ext>
            </a:extLst>
          </p:cNvPr>
          <p:cNvSpPr txBox="1"/>
          <p:nvPr/>
        </p:nvSpPr>
        <p:spPr>
          <a:xfrm>
            <a:off x="5742731" y="3582884"/>
            <a:ext cx="12214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>
              <a:solidFill>
                <a:srgbClr val="5A6B7C"/>
              </a:solidFill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571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1A32AA-E4D7-7E7B-6903-030C5A6F3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996FE58-902C-FCFF-E572-FBE55D872860}"/>
              </a:ext>
            </a:extLst>
          </p:cNvPr>
          <p:cNvSpPr/>
          <p:nvPr/>
        </p:nvSpPr>
        <p:spPr>
          <a:xfrm rot="5400000" flipV="1">
            <a:off x="3471781" y="-3471773"/>
            <a:ext cx="9312439" cy="16256002"/>
          </a:xfrm>
          <a:prstGeom prst="rect">
            <a:avLst/>
          </a:prstGeom>
          <a:solidFill>
            <a:srgbClr val="EDE8E0"/>
          </a:solidFill>
          <a:ln>
            <a:noFill/>
          </a:ln>
          <a:effectLst>
            <a:outerShdw blurRad="508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BD6322-F920-2D59-073B-9D43E4E86DA4}"/>
              </a:ext>
            </a:extLst>
          </p:cNvPr>
          <p:cNvSpPr txBox="1"/>
          <p:nvPr/>
        </p:nvSpPr>
        <p:spPr>
          <a:xfrm>
            <a:off x="878840" y="691290"/>
            <a:ext cx="13701010" cy="6860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Lessons Learned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Validate calculations before making decisions.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Clearly define risk segments.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Association does not mean causation.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Good analytics must translate data into practical business insights.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3600" b="1" dirty="0"/>
              <a:t>Conclusion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HealthConnect Data Analytics component is validated and ready for final integration and presentation.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5099AA"/>
              </a:solidFill>
              <a:latin typeface="Oranienbaum" panose="02000506080000020003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3B5DF7-4412-5FDC-1334-3D091D63B87D}"/>
              </a:ext>
            </a:extLst>
          </p:cNvPr>
          <p:cNvSpPr txBox="1"/>
          <p:nvPr/>
        </p:nvSpPr>
        <p:spPr>
          <a:xfrm>
            <a:off x="5742731" y="3582884"/>
            <a:ext cx="12214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>
              <a:solidFill>
                <a:srgbClr val="5A6B7C"/>
              </a:solidFill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114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B25984-9AC4-8A99-7272-DCFB945BA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" y="0"/>
            <a:ext cx="16242888" cy="9144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6418C3-3E3D-F973-0F8E-BCF2BBB5AD8B}"/>
              </a:ext>
            </a:extLst>
          </p:cNvPr>
          <p:cNvSpPr/>
          <p:nvPr/>
        </p:nvSpPr>
        <p:spPr>
          <a:xfrm>
            <a:off x="-14738" y="0"/>
            <a:ext cx="16285464" cy="9144000"/>
          </a:xfrm>
          <a:prstGeom prst="rect">
            <a:avLst/>
          </a:prstGeom>
          <a:gradFill flip="none" rotWithShape="1">
            <a:gsLst>
              <a:gs pos="50000">
                <a:srgbClr val="14262A">
                  <a:alpha val="91000"/>
                </a:srgbClr>
              </a:gs>
              <a:gs pos="0">
                <a:srgbClr val="14262A">
                  <a:alpha val="90000"/>
                </a:srgbClr>
              </a:gs>
              <a:gs pos="100000">
                <a:srgbClr val="14262A">
                  <a:alpha val="94902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2BAB4-74F4-16E9-6752-3E8E51628603}"/>
              </a:ext>
            </a:extLst>
          </p:cNvPr>
          <p:cNvSpPr txBox="1"/>
          <p:nvPr/>
        </p:nvSpPr>
        <p:spPr>
          <a:xfrm>
            <a:off x="2290187" y="3132948"/>
            <a:ext cx="124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masis MT Pro Light" panose="02040304050005020304" pitchFamily="18" charset="0"/>
              </a:rPr>
              <a:t>THANK YOU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09BBD8-3BDC-4A36-C248-B7D83467B8FF}"/>
              </a:ext>
            </a:extLst>
          </p:cNvPr>
          <p:cNvSpPr/>
          <p:nvPr/>
        </p:nvSpPr>
        <p:spPr>
          <a:xfrm rot="5400000" flipV="1">
            <a:off x="5463862" y="3572814"/>
            <a:ext cx="1015665" cy="135929"/>
          </a:xfrm>
          <a:prstGeom prst="rect">
            <a:avLst/>
          </a:prstGeom>
          <a:solidFill>
            <a:srgbClr val="5099AA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65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2007</TotalTime>
  <Words>555</Words>
  <Application>Microsoft Office PowerPoint</Application>
  <PresentationFormat>Custom</PresentationFormat>
  <Paragraphs>115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Amasis MT Pro Light</vt:lpstr>
      <vt:lpstr>Aptos</vt:lpstr>
      <vt:lpstr>Aptos Display</vt:lpstr>
      <vt:lpstr>Arial</vt:lpstr>
      <vt:lpstr>Calibri</vt:lpstr>
      <vt:lpstr>Oranienbaum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Immanuel Chukwudubem</dc:creator>
  <cp:lastModifiedBy>SAMART</cp:lastModifiedBy>
  <cp:revision>43</cp:revision>
  <dcterms:created xsi:type="dcterms:W3CDTF">2026-08-04T07:42:39Z</dcterms:created>
  <dcterms:modified xsi:type="dcterms:W3CDTF">2026-09-26T17:59:00Z</dcterms:modified>
</cp:coreProperties>
</file>